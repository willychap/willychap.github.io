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4" autoAdjust="0"/>
    <p:restoredTop sz="94658" autoAdjust="0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Chapman" userId="33118463-a38b-4662-aced-6a4a4610227c" providerId="ADAL" clId="{0E5D2AC1-3F33-5E11-A7DD-A7B9204A60B8}"/>
    <pc:docChg chg="custSel modSld">
      <pc:chgData name="Will Chapman" userId="33118463-a38b-4662-aced-6a4a4610227c" providerId="ADAL" clId="{0E5D2AC1-3F33-5E11-A7DD-A7B9204A60B8}" dt="2026-03-18T13:33:09.417" v="18" actId="1076"/>
      <pc:docMkLst>
        <pc:docMk/>
      </pc:docMkLst>
      <pc:sldChg chg="modSp mod">
        <pc:chgData name="Will Chapman" userId="33118463-a38b-4662-aced-6a4a4610227c" providerId="ADAL" clId="{0E5D2AC1-3F33-5E11-A7DD-A7B9204A60B8}" dt="2026-03-18T13:32:04.687" v="4" actId="1076"/>
        <pc:sldMkLst>
          <pc:docMk/>
          <pc:sldMk cId="0" sldId="260"/>
        </pc:sldMkLst>
        <pc:picChg chg="mod">
          <ac:chgData name="Will Chapman" userId="33118463-a38b-4662-aced-6a4a4610227c" providerId="ADAL" clId="{0E5D2AC1-3F33-5E11-A7DD-A7B9204A60B8}" dt="2026-03-18T13:32:04.687" v="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Will Chapman" userId="33118463-a38b-4662-aced-6a4a4610227c" providerId="ADAL" clId="{0E5D2AC1-3F33-5E11-A7DD-A7B9204A60B8}" dt="2026-03-18T13:31:57.260" v="3" actId="1076"/>
        <pc:sldMkLst>
          <pc:docMk/>
          <pc:sldMk cId="0" sldId="262"/>
        </pc:sldMkLst>
        <pc:picChg chg="mod">
          <ac:chgData name="Will Chapman" userId="33118463-a38b-4662-aced-6a4a4610227c" providerId="ADAL" clId="{0E5D2AC1-3F33-5E11-A7DD-A7B9204A60B8}" dt="2026-03-18T13:31:57.260" v="3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Will Chapman" userId="33118463-a38b-4662-aced-6a4a4610227c" providerId="ADAL" clId="{0E5D2AC1-3F33-5E11-A7DD-A7B9204A60B8}" dt="2026-03-18T13:32:17.739" v="8" actId="1076"/>
        <pc:sldMkLst>
          <pc:docMk/>
          <pc:sldMk cId="0" sldId="266"/>
        </pc:sldMkLst>
        <pc:spChg chg="mod">
          <ac:chgData name="Will Chapman" userId="33118463-a38b-4662-aced-6a4a4610227c" providerId="ADAL" clId="{0E5D2AC1-3F33-5E11-A7DD-A7B9204A60B8}" dt="2026-03-18T13:32:14.507" v="7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Will Chapman" userId="33118463-a38b-4662-aced-6a4a4610227c" providerId="ADAL" clId="{0E5D2AC1-3F33-5E11-A7DD-A7B9204A60B8}" dt="2026-03-18T13:32:17.739" v="8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Will Chapman" userId="33118463-a38b-4662-aced-6a4a4610227c" providerId="ADAL" clId="{0E5D2AC1-3F33-5E11-A7DD-A7B9204A60B8}" dt="2026-03-18T13:32:39.103" v="15" actId="1076"/>
        <pc:sldMkLst>
          <pc:docMk/>
          <pc:sldMk cId="0" sldId="270"/>
        </pc:sldMkLst>
        <pc:spChg chg="mod">
          <ac:chgData name="Will Chapman" userId="33118463-a38b-4662-aced-6a4a4610227c" providerId="ADAL" clId="{0E5D2AC1-3F33-5E11-A7DD-A7B9204A60B8}" dt="2026-03-18T13:32:39.103" v="15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Will Chapman" userId="33118463-a38b-4662-aced-6a4a4610227c" providerId="ADAL" clId="{0E5D2AC1-3F33-5E11-A7DD-A7B9204A60B8}" dt="2026-03-18T13:32:30.710" v="13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Will Chapman" userId="33118463-a38b-4662-aced-6a4a4610227c" providerId="ADAL" clId="{0E5D2AC1-3F33-5E11-A7DD-A7B9204A60B8}" dt="2026-03-18T13:32:34.948" v="14" actId="1076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Will Chapman" userId="33118463-a38b-4662-aced-6a4a4610227c" providerId="ADAL" clId="{0E5D2AC1-3F33-5E11-A7DD-A7B9204A60B8}" dt="2026-03-18T13:33:09.417" v="18" actId="1076"/>
        <pc:sldMkLst>
          <pc:docMk/>
          <pc:sldMk cId="0" sldId="286"/>
        </pc:sldMkLst>
        <pc:spChg chg="mod">
          <ac:chgData name="Will Chapman" userId="33118463-a38b-4662-aced-6a4a4610227c" providerId="ADAL" clId="{0E5D2AC1-3F33-5E11-A7DD-A7B9204A60B8}" dt="2026-03-18T13:33:09.417" v="18" actId="1076"/>
          <ac:spMkLst>
            <pc:docMk/>
            <pc:sldMk cId="0" sldId="28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POP goes the CAMulator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Initial Results: CAMulator ↔ POP2 inside CESM2/3</a:t>
            </a:r>
            <a:br/>
            <a:br/>
            <a:r>
              <a:t>Will Chapman | CU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The Scientific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We have been working significantly with uncoupled systems: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Atmosphere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Ocean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prescribed SST/ICE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OMIP / GIAF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prescribed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This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ML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The problem:</a:t>
            </a:r>
          </a:p>
          <a:p>
            <a:pPr lvl="0"/>
            <a:r>
              <a:t>In OMIP, the ocean responds to forcing — but the forcing never changes based on what the ocean does</a:t>
            </a:r>
          </a:p>
          <a:p>
            <a:pPr lvl="0"/>
            <a:r>
              <a:t>Warm SST anomalies can’t generate more evaporation, shift the jet stream, or modify precipitation</a:t>
            </a:r>
          </a:p>
          <a:p>
            <a:pPr lvl="0"/>
            <a:r>
              <a:rPr b="1"/>
              <a:t>Interactive air-sea feedback is missing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Why it matters:</a:t>
            </a:r>
          </a:p>
          <a:p>
            <a:pPr lvl="0"/>
            <a:r>
              <a:t>The climate system is coupled</a:t>
            </a:r>
          </a:p>
          <a:p>
            <a:pPr lvl="1"/>
            <a:r>
              <a:t>ENSO is an air-sea coupled phenomenon</a:t>
            </a:r>
          </a:p>
          <a:p>
            <a:pPr lvl="1"/>
            <a:r>
              <a:t>MJO propagation depends on air-sea heat exchange</a:t>
            </a:r>
          </a:p>
          <a:p>
            <a:pPr lvl="1"/>
            <a:r>
              <a:t>AMOC sensitivity to wind stress changes</a:t>
            </a:r>
          </a:p>
          <a:p>
            <a:pPr lvl="1"/>
            <a:r>
              <a:t>Climate drift in long runs is partly an air-sea feedback problem</a:t>
            </a:r>
          </a:p>
          <a:p>
            <a:pPr marL="1270000" lvl="0" indent="0">
              <a:buNone/>
            </a:pPr>
            <a:r>
              <a:rPr sz="2000" b="1"/>
              <a:t>Note</a:t>
            </a:r>
          </a:p>
          <a:p>
            <a:pPr marL="1270000" lvl="0" indent="0">
              <a:buNone/>
            </a:pPr>
            <a:r>
              <a:rPr sz="2000"/>
              <a:t>Standard GIAF runs have been the workhorse of ocean-only CESM science for 20(?) years. We’re upgrading the atmosphere from “prescribed file reader” to “AI physics.”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CAMulator in 30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Quick framing:</a:t>
            </a:r>
          </a:p>
          <a:p>
            <a:pPr lvl="0"/>
            <a:r>
              <a:t>Autoregressive 6-hr emulator of CAM6</a:t>
            </a:r>
          </a:p>
          <a:p>
            <a:pPr lvl="0"/>
            <a:r>
              <a:t>1° resolution, 130 prognostic channels</a:t>
            </a:r>
          </a:p>
          <a:p>
            <a:pPr lvl="0"/>
            <a:r>
              <a:t>Enforces conservation of dry air mass, moisture, total energy</a:t>
            </a:r>
          </a:p>
          <a:p>
            <a:pPr lvl="0"/>
            <a:r>
              <a:rPr b="1"/>
              <a:t>350× speedup</a:t>
            </a:r>
            <a:r>
              <a:t> over CAM6</a:t>
            </a:r>
          </a:p>
          <a:p>
            <a:pPr lvl="0"/>
            <a:r>
              <a:t>Captures ENSO, NAO, PNA, realistic variability</a:t>
            </a:r>
          </a:p>
          <a:p>
            <a:pPr marL="0" lvl="0" indent="0">
              <a:buNone/>
            </a:pPr>
            <a:r>
              <a:rPr b="1"/>
              <a:t>The limitation this coupling addresses:</a:t>
            </a:r>
          </a:p>
          <a:p>
            <a:pPr marL="0" lvl="0" indent="0">
              <a:buNone/>
            </a:pPr>
            <a:r>
              <a:t>CAMulator was trained and evaluated with </a:t>
            </a:r>
            <a:r>
              <a:rPr b="1"/>
              <a:t>prescribed SST/IFRAC</a:t>
            </a:r>
            <a:r>
              <a:t> — it responds to the ocean but the ocean never responds back. This is exactly the AMIP problem, now for ML models.</a:t>
            </a:r>
          </a:p>
          <a:p>
            <a:pPr marL="0" lvl="0" indent="0">
              <a:buNone/>
            </a:pPr>
            <a:r>
              <a:rPr b="1"/>
              <a:t>This work:</a:t>
            </a:r>
            <a:r>
              <a:t> replace the prescribed SST/ICE with a live POP2 ocean/CICE.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pic>
        <p:nvPicPr>
          <p:cNvPr id="2" name="Picture 1" descr="CAMulator_Coupling_Talk_files/figure-pptx/mermaid-figur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95839" y="2325094"/>
            <a:ext cx="40386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Today’s:</a:t>
            </a:r>
            <a:r>
              <a:t> Does a coupled CAMulator + POP2 system stay stable and physically meaningful? I will only show smoke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I Built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First(?) coupling of an ML atmosphere to a </a:t>
            </a:r>
            <a:r>
              <a:rPr b="1" dirty="0" err="1"/>
              <a:t>fortran</a:t>
            </a:r>
            <a:r>
              <a:rPr b="1" dirty="0"/>
              <a:t>/physics ocean + sea ice</a:t>
            </a:r>
          </a:p>
          <a:p>
            <a:pPr lvl="0"/>
            <a:r>
              <a:rPr dirty="0" err="1"/>
              <a:t>CAMulator</a:t>
            </a:r>
            <a:r>
              <a:rPr dirty="0"/>
              <a:t> replaces DATM prescribed forcing entirely</a:t>
            </a:r>
          </a:p>
          <a:p>
            <a:pPr lvl="0"/>
            <a:r>
              <a:rPr dirty="0"/>
              <a:t>POP2 + CICE receive </a:t>
            </a:r>
            <a:r>
              <a:rPr b="1" dirty="0"/>
              <a:t>evolving, </a:t>
            </a:r>
            <a:r>
              <a:rPr b="1" dirty="0" err="1"/>
              <a:t>CAMulator</a:t>
            </a:r>
            <a:r>
              <a:rPr dirty="0"/>
              <a:t> air-sea fluxes</a:t>
            </a:r>
          </a:p>
          <a:p>
            <a:pPr lvl="0"/>
            <a:r>
              <a:rPr dirty="0"/>
              <a:t>Ocean SST feeds back into </a:t>
            </a:r>
            <a:r>
              <a:rPr dirty="0" err="1"/>
              <a:t>CAMulator</a:t>
            </a:r>
            <a:r>
              <a:rPr dirty="0"/>
              <a:t> every </a:t>
            </a:r>
            <a:r>
              <a:rPr b="1" dirty="0"/>
              <a:t>6 hours</a:t>
            </a:r>
          </a:p>
          <a:p>
            <a:pPr lvl="0"/>
            <a:r>
              <a:rPr b="1" dirty="0"/>
              <a:t>No coupler modifications</a:t>
            </a:r>
            <a:r>
              <a:rPr dirty="0"/>
              <a:t> — piggybacked on existing GIAF </a:t>
            </a:r>
            <a:r>
              <a:rPr dirty="0" err="1"/>
              <a:t>compset</a:t>
            </a:r>
            <a:endParaRPr dirty="0"/>
          </a:p>
          <a:p>
            <a:pPr marL="0" lvl="0" indent="0">
              <a:buNone/>
            </a:pPr>
            <a:r>
              <a:rPr b="1" dirty="0"/>
              <a:t>First results:</a:t>
            </a:r>
          </a:p>
          <a:p>
            <a:pPr lvl="0"/>
            <a:r>
              <a:rPr dirty="0"/>
              <a:t>10-day test: stable, no blow-up</a:t>
            </a:r>
          </a:p>
          <a:p>
            <a:pPr lvl="0"/>
            <a:r>
              <a:rPr dirty="0"/>
              <a:t>3, 35 year runs completed</a:t>
            </a:r>
          </a:p>
          <a:p>
            <a:pPr lvl="0"/>
            <a:r>
              <a:rPr b="1" dirty="0"/>
              <a:t>42 SYPD</a:t>
            </a:r>
            <a:r>
              <a:rPr dirty="0"/>
              <a:t> on 2 Derecho CPU nodes + 1 Casper A100</a:t>
            </a:r>
          </a:p>
        </p:txBody>
      </p:sp>
      <p:pic>
        <p:nvPicPr>
          <p:cNvPr id="2" name="Picture 1" descr="CAMulator_Coupling_Talk_files/figure-pptx/cell-2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833" y="413469"/>
            <a:ext cx="5206167" cy="451313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How It Works: The DATM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Idea: write a new DATM </a:t>
            </a:r>
            <a:r>
              <a:rPr b="1" dirty="0" err="1"/>
              <a:t>datamode</a:t>
            </a:r>
            <a:endParaRPr b="1" dirty="0"/>
          </a:p>
          <a:p>
            <a:pPr marL="0" lvl="0" indent="0">
              <a:buNone/>
            </a:pPr>
            <a:r>
              <a:rPr dirty="0"/>
              <a:t>Instead of reading CORE2/JRA55 forcing files, </a:t>
            </a:r>
            <a:r>
              <a:rPr dirty="0">
                <a:latin typeface="Courier"/>
              </a:rPr>
              <a:t>DATM_MODE = CAMULATOR</a:t>
            </a:r>
            <a:r>
              <a:rPr dirty="0"/>
              <a:t> calls our Python inference server via the filesystem: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Every 6 hours:
  DATM writes  → </a:t>
            </a:r>
            <a:r>
              <a:rPr dirty="0" err="1">
                <a:latin typeface="Courier"/>
              </a:rPr>
              <a:t>sst_in.nc</a:t>
            </a:r>
            <a:r>
              <a:rPr dirty="0">
                <a:latin typeface="Courier"/>
              </a:rPr>
              <a:t>  (SST from POP2)
  DATM writes  → </a:t>
            </a:r>
            <a:r>
              <a:rPr dirty="0" err="1">
                <a:latin typeface="Courier"/>
              </a:rPr>
              <a:t>go.flag</a:t>
            </a:r>
            <a:r>
              <a:rPr dirty="0">
                <a:latin typeface="Courier"/>
              </a:rPr>
              <a:t>
  [polls every 1s, timeout 1h]
  DATM reads   ← </a:t>
            </a:r>
            <a:r>
              <a:rPr dirty="0" err="1">
                <a:latin typeface="Courier"/>
              </a:rPr>
              <a:t>cam_out.nc</a:t>
            </a:r>
            <a:r>
              <a:rPr dirty="0">
                <a:latin typeface="Courier"/>
              </a:rPr>
              <a:t> (10 flux fields)
  DATM reads   ← </a:t>
            </a:r>
            <a:r>
              <a:rPr dirty="0" err="1">
                <a:latin typeface="Courier"/>
              </a:rPr>
              <a:t>done.flag</a:t>
            </a:r>
            <a:endParaRPr dirty="0">
              <a:latin typeface="Courier"/>
            </a:endParaRPr>
          </a:p>
          <a:p>
            <a:pPr marL="0" lvl="0" indent="0">
              <a:buNone/>
            </a:pPr>
            <a:r>
              <a:rPr b="1" dirty="0"/>
              <a:t>Two files changed in CESM source:</a:t>
            </a:r>
          </a:p>
          <a:p>
            <a:pPr marL="342900" lvl="0" indent="-342900">
              <a:buAutoNum type="arabicPeriod"/>
            </a:pPr>
            <a:r>
              <a:rPr dirty="0"/>
              <a:t>New: </a:t>
            </a:r>
            <a:r>
              <a:rPr dirty="0">
                <a:latin typeface="Courier"/>
              </a:rPr>
              <a:t>datm_datamode_camulator.F90</a:t>
            </a:r>
          </a:p>
          <a:p>
            <a:pPr marL="342900" lvl="0" indent="-342900">
              <a:buAutoNum type="arabicPeriod"/>
            </a:pPr>
            <a:r>
              <a:rPr dirty="0"/>
              <a:t>Wired into: </a:t>
            </a:r>
            <a:r>
              <a:rPr dirty="0">
                <a:latin typeface="Courier"/>
              </a:rPr>
              <a:t>datm_comp_mod.F90</a:t>
            </a:r>
            <a:r>
              <a:rPr dirty="0"/>
              <a:t> (</a:t>
            </a:r>
            <a:r>
              <a:rPr dirty="0">
                <a:latin typeface="Courier"/>
              </a:rPr>
              <a:t>case('CAMULATOR')</a:t>
            </a:r>
            <a:r>
              <a:rPr dirty="0"/>
              <a:t>)</a:t>
            </a:r>
          </a:p>
          <a:p>
            <a:pPr marL="0" lvl="0" indent="0">
              <a:buNone/>
            </a:pPr>
            <a:r>
              <a:rPr b="1" dirty="0"/>
              <a:t>Activated by</a:t>
            </a:r>
            <a:r>
              <a:rPr dirty="0"/>
              <a:t> </a:t>
            </a:r>
            <a:r>
              <a:rPr dirty="0">
                <a:latin typeface="Courier"/>
              </a:rPr>
              <a:t>DATM_MODE = CAMULATOR</a:t>
            </a:r>
            <a:r>
              <a:rPr dirty="0"/>
              <a:t> in </a:t>
            </a:r>
            <a:r>
              <a:rPr dirty="0" err="1">
                <a:latin typeface="Courier"/>
              </a:rPr>
              <a:t>user_nl_datm</a:t>
            </a:r>
            <a:endParaRPr dirty="0">
              <a:latin typeface="Courier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Why file-based interface?</a:t>
            </a:r>
          </a:p>
          <a:p>
            <a:pPr lvl="0"/>
            <a:r>
              <a:t>No Fortran↔Python interop (no FTORCH/FORPY, no sockets)</a:t>
            </a:r>
          </a:p>
          <a:p>
            <a:pPr lvl="0"/>
            <a:r>
              <a:t>6-hr coupling interval → ~10 MB I/O overhead is negligible</a:t>
            </a:r>
          </a:p>
          <a:p>
            <a:pPr lvl="0"/>
            <a:r>
              <a:t>Fully debuggable: inspect every </a:t>
            </a:r>
            <a:r>
              <a:rPr>
                <a:latin typeface="Courier"/>
              </a:rPr>
              <a:t>sst_in.nc</a:t>
            </a:r>
            <a:r>
              <a:t> and </a:t>
            </a:r>
            <a:r>
              <a:rPr>
                <a:latin typeface="Courier"/>
              </a:rPr>
              <a:t>cam_out.nc</a:t>
            </a:r>
            <a:r>
              <a:t> independently</a:t>
            </a:r>
          </a:p>
          <a:p>
            <a:pPr lvl="0"/>
            <a:r>
              <a:t>Model-agnostic: swap </a:t>
            </a:r>
            <a:r>
              <a:rPr>
                <a:latin typeface="Courier"/>
              </a:rPr>
              <a:t>camulator_server.py</a:t>
            </a:r>
            <a:r>
              <a:t> for any CREDIT model — Fortran side never changes</a:t>
            </a:r>
          </a:p>
          <a:p>
            <a:pPr marL="0" lvl="0" indent="0">
              <a:buNone/>
            </a:pPr>
            <a:r>
              <a:rPr b="1"/>
              <a:t>Key physics handled server-side:</a:t>
            </a:r>
          </a:p>
          <a:p>
            <a:pPr lvl="0"/>
            <a:r>
              <a:t>SST/IFRAC injected into </a:t>
            </a:r>
            <a:r>
              <a:rPr b="1"/>
              <a:t>forcing tensor</a:t>
            </a:r>
          </a:p>
          <a:p>
            <a:pPr lvl="0"/>
            <a:r>
              <a:t>FSNS → FSDS: albedo inversion so CPL7 doesn’t double-count surface reflection</a:t>
            </a:r>
          </a:p>
          <a:p>
            <a:pPr lvl="0"/>
            <a:r>
              <a:t>FLNS → FLDS: isolates downwelling component</a:t>
            </a:r>
          </a:p>
          <a:p>
            <a:pPr lvl="0"/>
            <a:r>
              <a:t>Over-land SST fill for continental grid points</a:t>
            </a:r>
          </a:p>
          <a:p>
            <a:pPr lvl="0"/>
            <a:r>
              <a:t>Dynamic boundary layer height (</a:t>
            </a:r>
            <a:r>
              <a:rPr>
                <a:latin typeface="Courier"/>
              </a:rPr>
              <a:t>z_bot ∝ T_bot</a:t>
            </a:r>
            <a: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Flux Conversions: Net → Downwelling</a:t>
            </a:r>
          </a:p>
          <a:p>
            <a:pPr marL="0" lvl="0" indent="0">
              <a:buNone/>
            </a:pPr>
            <a:r>
              <a:rPr dirty="0" err="1"/>
              <a:t>CAMulator</a:t>
            </a:r>
            <a:r>
              <a:rPr dirty="0"/>
              <a:t> outputs net fluxes at the surface. CPL7 expects downwelling fluxes and applies surface albedo internally — so we have to invert before handing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14077" y="603803"/>
                <a:ext cx="4038600" cy="3394472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b="1" dirty="0"/>
                  <a:t>SW — albedo inversion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FSDS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/>
                            <m:t>FSNS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/>
                                <m:t>sfc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sfc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/>
                                <m:t>ice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×0.06+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ice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×0.60</m:t>
                      </m:r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Passing FSNS directly would double-count the reflection — CPL7 applies albedo again internally.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ice</m:t>
                        </m:r>
                      </m:sub>
                    </m:sSub>
                  </m:oMath>
                </a14:m>
                <a:r>
                  <a:rPr dirty="0"/>
                  <a:t> is taken from CICE at the same timestep so the correction always tracks actual ice cover.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14077" y="603803"/>
                <a:ext cx="4038600" cy="3394472"/>
              </a:xfrm>
              <a:blipFill>
                <a:blip r:embed="rId2"/>
                <a:stretch>
                  <a:fillRect l="-1254"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791323" y="794635"/>
                <a:ext cx="4038600" cy="3394472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b="1" dirty="0"/>
                  <a:t>LW — Stefan-Boltzmann reconstruction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FLNSD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=0.99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/>
                            <m:t>FLNS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 err="1"/>
                  <a:t>CAMulator</a:t>
                </a:r>
                <a:r>
                  <a:rPr dirty="0"/>
                  <a:t> gives net upward LW (FLNS). Adding back the upward surface emission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0.99 </m:t>
                    </m:r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dirty="0"/>
                  <a:t>) isolates the downwelling component that CPL7 needs to force the ocean.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791323" y="794635"/>
                <a:ext cx="4038600" cy="3394472"/>
              </a:xfrm>
              <a:blipFill>
                <a:blip r:embed="rId3"/>
                <a:stretch>
                  <a:fillRect l="-1567" t="-746" r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Dynamic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e>
                  <m:sub>
                    <m:r>
                      <m:rPr>
                        <m:nor/>
                      </m:rPr>
                      <a:rPr/>
                      <m:t>bot</m:t>
                    </m:r>
                  </m:sub>
                </m:sSub>
              </m:oMath>
            </a14:m>
            <a:r>
              <a:rPr b="1"/>
              <a:t> and Monin-Obukhov Theory (?)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CPL7’s COARE-style bulk scheme needs the </a:t>
            </a:r>
            <a:r>
              <a:rPr b="1" dirty="0"/>
              <a:t>reference height</a:t>
            </a:r>
            <a:r>
              <a:rPr dirty="0"/>
              <a:t>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e>
                  <m:sub>
                    <m:r>
                      <m:rPr>
                        <m:nor/>
                      </m:rPr>
                      <a:rPr/>
                      <m:t>bot</m:t>
                    </m:r>
                  </m:sub>
                </m:sSub>
              </m:oMath>
            </a14:m>
            <a:r>
              <a:rPr dirty="0"/>
              <a:t>: the height of the data read in to compute the M-O stability correction and from that the wind stress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𝜏</m:t>
                </m:r>
              </m:oMath>
            </a14:m>
            <a:r>
              <a:rPr dirty="0"/>
              <a:t>, sensible heat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𝐻</m:t>
                </m:r>
              </m:oMath>
            </a14:m>
            <a:r>
              <a:rPr dirty="0"/>
              <a:t>, and latent heat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𝐿𝐸</m:t>
                </m:r>
              </m:oMath>
            </a14:m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In CAM6 it’s not a fixed number; it varies ~50–67 m with surface temperature. We derive it consistently from the hybrid coordinate and the hypsometric equation: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mid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limLow>
                    <m:limLow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limLowPr>
                    <m:e>
                      <m:limLow>
                        <m:limLow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lim>
                          <m:r>
                            <a:rPr>
                              <a:latin typeface="Cambria Math" panose="02040503050406030204" pitchFamily="18" charset="0"/>
                            </a:rPr>
                            <m:t>⏟</m:t>
                          </m:r>
                        </m:lim>
                      </m:limLow>
                    </m:e>
                    <m:lim>
                      <m:r>
                        <a:rPr>
                          <a:latin typeface="Cambria Math" panose="02040503050406030204" pitchFamily="18" charset="0"/>
                        </a:rPr>
                        <m:t>≈ 0</m:t>
                      </m:r>
                    </m:lim>
                  </m:limLow>
                  <m:r>
                    <a:rPr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 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 ≈ 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+1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>
                      <a:latin typeface="Cambria Math" panose="02040503050406030204" pitchFamily="18" charset="0"/>
                    </a:rPr>
                    <m:t> 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</m:sub>
                  </m:sSub>
                </m:oMath>
              </m:oMathPara>
            </a14:m>
            <a:endParaRPr dirty="0"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𝑧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bot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den>
                  </m:f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ln</m:t>
                  </m:r>
                  <m:r>
                    <a:rPr>
                      <a:latin typeface="Cambria Math" panose="02040503050406030204" pitchFamily="18" charset="0"/>
                    </a:rPr>
                    <m:t>​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num>
                    <m:den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mid</m:t>
                          </m:r>
                        </m:sub>
                      </m:sSub>
                    </m:den>
                  </m:f>
                  <m:r>
                    <a:rPr>
                      <a:latin typeface="Cambria Math" panose="02040503050406030204" pitchFamily="18" charset="0"/>
                    </a:rPr>
                    <m:t>⋅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bot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≈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</m:den>
                  </m:f>
                  <m:d>
                    <m:d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e>
                  </m:d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bot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≈0.219 </m:t>
                  </m:r>
                  <m:sSub>
                    <m:sSub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m:rPr>
                          <m:nor/>
                        </m:rPr>
                        <a:rPr/>
                        <m:t>bot</m:t>
                      </m:r>
                    </m:sub>
                  </m:sSub>
                </m:oMath>
              </m:oMathPara>
            </a14:m>
            <a:endParaRPr dirty="0"/>
          </a:p>
          <a:p>
            <a:pPr lvl="0" indent="0">
              <a:buNone/>
            </a:pPr>
            <a:r>
              <a:rPr dirty="0">
                <a:latin typeface="Courier"/>
              </a:rPr>
              <a:t>Z_BOT_SCALE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(</a:t>
            </a:r>
            <a:r>
              <a:rPr dirty="0">
                <a:solidFill>
                  <a:srgbClr val="40A070"/>
                </a:solidFill>
                <a:latin typeface="Courier"/>
              </a:rPr>
              <a:t>287.058</a:t>
            </a:r>
            <a:r>
              <a:rPr dirty="0">
                <a:solidFill>
                  <a:srgbClr val="666666"/>
                </a:solidFill>
                <a:latin typeface="Courier"/>
              </a:rPr>
              <a:t>/</a:t>
            </a:r>
            <a:r>
              <a:rPr dirty="0">
                <a:solidFill>
                  <a:srgbClr val="40A070"/>
                </a:solidFill>
                <a:latin typeface="Courier"/>
              </a:rPr>
              <a:t>9.80616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666666"/>
                </a:solidFill>
                <a:latin typeface="Courier"/>
              </a:rPr>
              <a:t>\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(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 err="1">
                <a:latin typeface="Courier"/>
              </a:rPr>
              <a:t>np.log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0.5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hybi</a:t>
            </a:r>
            <a:r>
              <a:rPr dirty="0">
                <a:latin typeface="Courier"/>
              </a:rPr>
              <a:t>[</a:t>
            </a:r>
            <a:r>
              <a:rPr dirty="0">
                <a:solidFill>
                  <a:srgbClr val="666666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]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)))  </a:t>
            </a:r>
            <a:r>
              <a:rPr i="1" dirty="0">
                <a:solidFill>
                  <a:srgbClr val="60A0B0"/>
                </a:solidFill>
                <a:latin typeface="Courier"/>
              </a:rPr>
              <a:t># 0.2187 m/K</a:t>
            </a:r>
            <a:br>
              <a:rPr dirty="0"/>
            </a:br>
            <a:r>
              <a:rPr dirty="0" err="1">
                <a:latin typeface="Courier"/>
              </a:rPr>
              <a:t>z_bot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Z_BOT_SCALE </a:t>
            </a:r>
            <a:r>
              <a:rPr dirty="0">
                <a:solidFill>
                  <a:srgbClr val="666666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T_bot</a:t>
            </a:r>
            <a:r>
              <a:rPr dirty="0">
                <a:latin typeface="Courier"/>
              </a:rPr>
              <a:t>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50–67 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Getting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e>
                  <m:sub>
                    <m:r>
                      <m:rPr>
                        <m:nor/>
                      </m:rPr>
                      <a:rPr/>
                      <m:t>bot</m:t>
                    </m:r>
                  </m:sub>
                </m:sSub>
              </m:oMath>
            </a14:m>
            <a:r>
              <a:rPr b="1" dirty="0"/>
              <a:t> wrong changes which stability regime CPL7 thinks it’s in.</a:t>
            </a:r>
          </a:p>
          <a:p>
            <a:pPr lvl="0"/>
            <a:r>
              <a:rPr dirty="0"/>
              <a:t>In stable conditions (cold SST under warm air), a wrong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e>
                  <m:sub>
                    <m:r>
                      <m:rPr>
                        <m:nor/>
                      </m:rPr>
                      <a:rPr/>
                      <m:t>bot</m:t>
                    </m:r>
                  </m:sub>
                </m:sSub>
              </m:oMath>
            </a14:m>
            <a:r>
              <a:rPr dirty="0"/>
              <a:t> artificially suppresses wind stress</a:t>
            </a:r>
          </a:p>
          <a:p>
            <a:pPr lvl="0"/>
            <a:r>
              <a:rPr dirty="0"/>
              <a:t>In unstable conditions (warm tropical SST), it sets the strength of the convective enhancement of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𝐻</m:t>
                </m:r>
              </m:oMath>
            </a14:m>
            <a:r>
              <a:rPr dirty="0"/>
              <a:t> and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𝐿𝐸</m:t>
                </m:r>
              </m:oMath>
            </a14:m>
            <a:endParaRPr dirty="0"/>
          </a:p>
          <a:p>
            <a:pPr marL="0" lvl="0" indent="0">
              <a:buNone/>
            </a:pPr>
            <a:r>
              <a:rPr dirty="0"/>
              <a:t>These aren’t small corrections and </a:t>
            </a:r>
            <a:r>
              <a:rPr b="1" dirty="0"/>
              <a:t>this is the thing I’m most </a:t>
            </a:r>
            <a:r>
              <a:rPr b="1" dirty="0" err="1"/>
              <a:t>neverous</a:t>
            </a:r>
            <a:r>
              <a:rPr b="1" dirty="0"/>
              <a:t> about</a:t>
            </a:r>
          </a:p>
          <a:p>
            <a:pPr marL="0" lvl="0" indent="0">
              <a:buNone/>
            </a:pPr>
            <a:r>
              <a:rPr dirty="0"/>
              <a:t>For example: the Southern Ocean, Arctic margins, the MJO warm pool, and eastern boundary upwelling zones all spend significant time in strongly stratified regimes.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Speed: How does 42 SYPD Compare?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Speed (SYPD)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Full CESM2 (CAM6 + POP2)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~7.3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 Derecho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GIAF (DATM + POP2, no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37.935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 Derecho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CAMulator + POP2 (this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42.025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 CPU + 1 A100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910426" y="-90487"/>
            <a:ext cx="8313090" cy="2963466"/>
          </a:xfrm>
        </p:spPr>
        <p:txBody>
          <a:bodyPr/>
          <a:lstStyle/>
          <a:p>
            <a:pPr marL="1270000" lvl="0" indent="0">
              <a:buNone/>
            </a:pPr>
            <a:r>
              <a:rPr sz="2000" b="1" dirty="0"/>
              <a:t>Note</a:t>
            </a:r>
          </a:p>
          <a:p>
            <a:pPr marL="1270000" lvl="0" indent="0">
              <a:buNone/>
            </a:pPr>
            <a:r>
              <a:rPr sz="2000" dirty="0"/>
              <a:t>we get a </a:t>
            </a:r>
            <a:r>
              <a:rPr sz="2000" b="1" dirty="0"/>
              <a:t>prognostic, interactive atmosphere</a:t>
            </a:r>
            <a:r>
              <a:rPr sz="2000" dirty="0"/>
              <a:t> at roughly the same wall-clock cost as prescribed forcing and 6X cheaper than running full CAM6 + POP2.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7224" y="3705860"/>
            <a:ext cx="4041775" cy="479822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Per-step breakdown on A100 (</a:t>
            </a:r>
            <a:r>
              <a:rPr b="1" dirty="0" err="1"/>
              <a:t>ms</a:t>
            </a:r>
            <a:r>
              <a:rPr b="1" dirty="0"/>
              <a:t>):</a:t>
            </a:r>
          </a:p>
        </p:txBody>
      </p:sp>
      <p:graphicFrame>
        <p:nvGraphicFramePr>
          <p:cNvPr id="2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Build input tensor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~5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CAMulator inference (JIT)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~190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Inverse 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~8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Grid remap (T62 ↔ 1°)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~3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Write cam_out.nc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~15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Total server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 dirty="0"/>
                        <a:t>~220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Content Placeholder 5"/>
          <p:cNvSpPr>
            <a:spLocks noGrp="1"/>
          </p:cNvSpPr>
          <p:nvPr>
            <p:ph sz="quarter" idx="4"/>
          </p:nvPr>
        </p:nvSpPr>
        <p:spPr>
          <a:xfrm>
            <a:off x="96880" y="4197167"/>
            <a:ext cx="4041775" cy="2963466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CAM6 reference:</a:t>
            </a:r>
            <a:r>
              <a:rPr dirty="0"/>
              <a:t> one 6-hr step ~4932 </a:t>
            </a:r>
            <a:r>
              <a:rPr dirty="0" err="1"/>
              <a:t>ms</a:t>
            </a:r>
            <a:r>
              <a:rPr dirty="0"/>
              <a:t> on 8 CPU Nodes</a:t>
            </a:r>
          </a:p>
          <a:p>
            <a:pPr marL="0" lvl="0" indent="0">
              <a:buNone/>
            </a:pPr>
            <a:r>
              <a:rPr dirty="0"/>
              <a:t>CESM’s ocean/ice compute is the wall-clock bottleneck — not inference.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Movie: Monthly SSTs and Precip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Movie: ENSO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ENSO: Niño 3.4 Index</a:t>
            </a:r>
          </a:p>
          <a:p>
            <a:pPr marL="0" lvl="0" indent="0">
              <a:buNone/>
            </a:pPr>
            <a:r>
              <a:t>The coupled run produces realistic interannual SST variability in the tropical Pacific — ENSO cycles emerge spontaneously from the coupled system.</a:t>
            </a:r>
          </a:p>
        </p:txBody>
      </p:sp>
      <p:pic>
        <p:nvPicPr>
          <p:cNvPr id="2" name="Picture 1" descr="nino34_index_CI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54200"/>
            <a:ext cx="51054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ENSO: Spatial Pattern</a:t>
            </a:r>
          </a:p>
          <a:p>
            <a:pPr marL="0" lvl="0" indent="0">
              <a:buNone/>
            </a:pPr>
            <a:r>
              <a:t>SST regression on Niño 3.4 shows the correct east-Pacific warming structure and horseshoe cooling in the off-equatorial Pacific.</a:t>
            </a:r>
          </a:p>
        </p:txBody>
      </p:sp>
      <p:pic>
        <p:nvPicPr>
          <p:cNvPr id="2" name="Picture 1" descr="enso_regression_s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323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ENSO: Power Spectrum</a:t>
            </a:r>
          </a:p>
          <a:p>
            <a:pPr marL="0" lvl="0" indent="0">
              <a:buNone/>
            </a:pPr>
            <a:r>
              <a:t>Spectral power peaks within the 2–7 year ENSO band, consistent with observed ENSO periodicity.</a:t>
            </a:r>
          </a:p>
        </p:txBody>
      </p:sp>
      <p:pic>
        <p:nvPicPr>
          <p:cNvPr id="2" name="Picture 1" descr="nino34_power_spectrum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71600"/>
            <a:ext cx="51054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MJO: Lagged Correlation</a:t>
            </a:r>
          </a:p>
          <a:p>
            <a:pPr marL="0" lvl="0" indent="0">
              <a:buNone/>
            </a:pPr>
            <a:r>
              <a:t>The coupled run captures eastward-propagating convective anomalies on intraseasonal timescales — precipitation and 850 hPa wind both track the Indian Ocean signal with the correct-ish phase relationship.</a:t>
            </a:r>
          </a:p>
        </p:txBody>
      </p:sp>
      <p:pic>
        <p:nvPicPr>
          <p:cNvPr id="2" name="Picture 1" descr="mjo_lagged_corr_classic_prect_shading_u850_contour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Results: Northern Hemisphere Sea Ice</a:t>
            </a:r>
          </a:p>
          <a:p>
            <a:pPr marL="0" lvl="0" indent="0">
              <a:buNone/>
            </a:pPr>
            <a:r>
              <a:t>NH sea ice extent follows a realistic seasonal cycle with no runaway loss or gain over the 35-year run.</a:t>
            </a:r>
          </a:p>
        </p:txBody>
      </p:sp>
      <p:pic>
        <p:nvPicPr>
          <p:cNvPr id="2" name="Picture 1" descr="nh_seaice_ext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Results: Global Mean Temperature</a:t>
            </a:r>
          </a:p>
          <a:p>
            <a:pPr marL="0" lvl="0" indent="0">
              <a:buNone/>
            </a:pPr>
            <a:r>
              <a:t>Global-mean 2m air temperature shows no long-term drift over the 35-year run — the coupled system is stable (ish).</a:t>
            </a:r>
          </a:p>
        </p:txBody>
      </p:sp>
      <p:pic>
        <p:nvPicPr>
          <p:cNvPr id="2" name="Picture 1" descr="global_mean_trefh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54200"/>
            <a:ext cx="51054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42 SYPD Enables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With a large speedup over CAM6, coupled experiments become feasible that weren’t before:</a:t>
            </a:r>
          </a:p>
          <a:p>
            <a:pPr lvl="0"/>
            <a:r>
              <a:rPr b="1"/>
              <a:t>Large ensembles</a:t>
            </a:r>
            <a:r>
              <a:t> with interactive ocean — 50–100 member ENSO forecasts at seasonal range</a:t>
            </a:r>
          </a:p>
          <a:p>
            <a:pPr lvl="0"/>
            <a:r>
              <a:rPr b="1"/>
              <a:t>Centennial runs</a:t>
            </a:r>
            <a:r>
              <a:t> to study climate drift, AMOC stability, heat uptake</a:t>
            </a:r>
          </a:p>
          <a:p>
            <a:pPr lvl="0"/>
            <a:r>
              <a:rPr b="1"/>
              <a:t>Parameter sensitivity sweeps</a:t>
            </a:r>
            <a:r>
              <a:t> — vary ocean mixing, ice albedo, test parameterization choices at low cost</a:t>
            </a:r>
          </a:p>
          <a:p>
            <a:pPr lvl="0"/>
            <a:r>
              <a:rPr b="1"/>
              <a:t>Rapid prototyping</a:t>
            </a:r>
            <a:r>
              <a:t> of new coupling strategies before investing in full CESM runs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The flag-file interface is intentionally model-agnostic: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Swap in any CREDIT model:</a:t>
            </a:r>
            <a:br/>
            <a:r>
              <a:rPr>
                <a:latin typeface="Courier"/>
              </a:rPr>
              <a:t>camulator_server.py        </a:t>
            </a:r>
            <a:r>
              <a:rPr i="1">
                <a:solidFill>
                  <a:srgbClr val="60A0B0"/>
                </a:solidFill>
                <a:latin typeface="Courier"/>
              </a:rPr>
              <a:t># CAMulator</a:t>
            </a:r>
            <a:br/>
            <a:r>
              <a:rPr>
                <a:latin typeface="Courier"/>
              </a:rPr>
              <a:t>→ fuxi_server.py           </a:t>
            </a:r>
            <a:r>
              <a:rPr i="1">
                <a:solidFill>
                  <a:srgbClr val="60A0B0"/>
                </a:solidFill>
                <a:latin typeface="Courier"/>
              </a:rPr>
              <a:t># FuXi</a:t>
            </a:r>
            <a:br/>
            <a:r>
              <a:rPr>
                <a:latin typeface="Courier"/>
              </a:rPr>
              <a:t>→ pangu_server.py          </a:t>
            </a:r>
            <a:r>
              <a:rPr i="1">
                <a:solidFill>
                  <a:srgbClr val="60A0B0"/>
                </a:solidFill>
                <a:latin typeface="Courier"/>
              </a:rPr>
              <a:t># Pangu-Weather</a:t>
            </a:r>
            <a:br/>
            <a:r>
              <a:rPr>
                <a:latin typeface="Courier"/>
              </a:rPr>
              <a:t>→ ACE2_server.py           </a:t>
            </a:r>
            <a:r>
              <a:rPr i="1">
                <a:solidFill>
                  <a:srgbClr val="60A0B0"/>
                </a:solidFill>
                <a:latin typeface="Courier"/>
              </a:rPr>
              <a:t># Ai2</a:t>
            </a:r>
          </a:p>
          <a:p>
            <a:pPr marL="0" lvl="0" indent="0">
              <a:buNone/>
            </a:pPr>
            <a:r>
              <a:t>The Fortran side (</a:t>
            </a:r>
            <a:r>
              <a:rPr>
                <a:latin typeface="Courier"/>
              </a:rPr>
              <a:t>datm_datamode_camulator.F90</a:t>
            </a:r>
            <a:r>
              <a:t>) never changes. Any model that can read </a:t>
            </a:r>
            <a:r>
              <a:rPr>
                <a:latin typeface="Courier"/>
              </a:rPr>
              <a:t>sst_in.nc</a:t>
            </a:r>
            <a:r>
              <a:t> and write </a:t>
            </a:r>
            <a:r>
              <a:rPr>
                <a:latin typeface="Courier"/>
              </a:rPr>
              <a:t>cam_out.nc</a:t>
            </a:r>
            <a:r>
              <a:t> can be plugged 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Steps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Science questions now open:</a:t>
            </a:r>
          </a:p>
          <a:p>
            <a:pPr marL="342900" lvl="0" indent="-342900">
              <a:buAutoNum type="arabicPeriod"/>
            </a:pPr>
            <a:r>
              <a:rPr b="1"/>
              <a:t>ENSO response</a:t>
            </a:r>
            <a:r>
              <a:t> — does CAMulator + POP2 produce realistic ENSO amplitude and period? Does it improve over OMIP?</a:t>
            </a:r>
          </a:p>
          <a:p>
            <a:pPr lvl="1"/>
            <a:r>
              <a:rPr b="1"/>
              <a:t>Creating an ACE2 Sever is Trivial in CREDIT</a:t>
            </a:r>
            <a:r>
              <a:t> - what ocean biases emerge with a reanalysis atmosphere?</a:t>
            </a:r>
          </a:p>
          <a:p>
            <a:pPr marL="342900" lvl="0" indent="-342900">
              <a:buAutoNum type="arabicPeriod"/>
            </a:pPr>
            <a:r>
              <a:rPr b="1"/>
              <a:t>MJO air-sea feedback</a:t>
            </a:r>
            <a:r>
              <a:t> — does the interactive atmosphere change MJO propagation speed or coherence?</a:t>
            </a:r>
          </a:p>
          <a:p>
            <a:pPr lvl="1"/>
            <a:r>
              <a:rPr b="1"/>
              <a:t>Creating an ACE2 Sever is Trivial in CREDIT</a:t>
            </a:r>
            <a:r>
              <a:t> - what ocean biases emerge with a reanalysis atmosphere?</a:t>
            </a:r>
            <a:br/>
            <a:endParaRPr/>
          </a:p>
          <a:p>
            <a:pPr marL="342900" lvl="0" indent="-342900">
              <a:buAutoNum type="arabicPeriod"/>
            </a:pPr>
            <a:r>
              <a:rPr b="1"/>
              <a:t>AMOC stability</a:t>
            </a:r>
            <a:r>
              <a:t> — multi-decadal runs with changing wind stress</a:t>
            </a:r>
          </a:p>
          <a:p>
            <a:pPr marL="342900" lvl="0" indent="-342900">
              <a:buAutoNum type="arabicPeriod"/>
            </a:pPr>
            <a:r>
              <a:rPr b="1"/>
              <a:t>SST bias evolution</a:t>
            </a:r>
            <a:r>
              <a:t> — does CAMulator’s known high-latitude cold bias change ocean heat uptake?</a:t>
            </a:r>
          </a:p>
          <a:p>
            <a:pPr marL="342900" lvl="0" indent="-342900">
              <a:buAutoNum type="arabicPeriod"/>
            </a:pPr>
            <a:r>
              <a:rPr b="1"/>
              <a:t>Ensemble spread</a:t>
            </a:r>
            <a:r>
              <a:t> — do coupled members diverge faster than AMIP/OMIP members? S2S simulations</a:t>
            </a:r>
          </a:p>
          <a:p>
            <a:pPr marL="342900" lvl="0" indent="-342900">
              <a:buAutoNum type="arabicPeriod"/>
            </a:pPr>
            <a:r>
              <a:t>Ocean stuff, I know next to nothing about the ocean.</a:t>
            </a:r>
          </a:p>
          <a:p>
            <a:pPr marL="342900" lvl="0" indent="-342900">
              <a:buAutoNum type="arabicPeriod"/>
            </a:pPr>
            <a:r>
              <a:t>Does calibrating ocean with this atmosphere help the bottleneck?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Technical next steps:</a:t>
            </a:r>
          </a:p>
          <a:p>
            <a:pPr lvl="0"/>
            <a:r>
              <a:rPr b="1"/>
              <a:t>Phase 2:</a:t>
            </a:r>
            <a:r>
              <a:t> bypass CPL7 bulk formula — pass </a:t>
            </a:r>
            <a:r>
              <a:rPr>
                <a:latin typeface="Courier"/>
              </a:rPr>
              <a:t>Faxa_taux/tauy</a:t>
            </a:r>
            <a:r>
              <a:t> directly instead of </a:t>
            </a:r>
            <a:r>
              <a:rPr>
                <a:latin typeface="Courier"/>
              </a:rPr>
              <a:t>Sa_u/Sa_v</a:t>
            </a:r>
            <a:r>
              <a:t> and Latent / Sensible Heat</a:t>
            </a:r>
          </a:p>
          <a:p>
            <a:pPr lvl="0"/>
            <a:r>
              <a:rPr b="1"/>
              <a:t>Retrain</a:t>
            </a:r>
            <a:r>
              <a:t> CAMulator to directly simulated downward fluxes at surface</a:t>
            </a:r>
          </a:p>
          <a:p>
            <a:pPr lvl="0"/>
            <a:r>
              <a:rPr b="1"/>
              <a:t>MOM6</a:t>
            </a:r>
            <a:r>
              <a:t> coupling (CESM3 ocean)</a:t>
            </a:r>
          </a:p>
          <a:p>
            <a:pPr lvl="1"/>
            <a:r>
              <a:t>Just switch the compset and this should(?) work now.</a:t>
            </a:r>
          </a:p>
          <a:p>
            <a:pPr marL="0" lvl="0" indent="0">
              <a:buNone/>
            </a:pPr>
            <a:r>
              <a:rPr b="1"/>
              <a:t>Community:</a:t>
            </a:r>
          </a:p>
          <a:p>
            <a:pPr lvl="0"/>
            <a:r>
              <a:t>CESM patch + </a:t>
            </a:r>
            <a:r>
              <a:rPr>
                <a:latin typeface="Courier"/>
              </a:rPr>
              <a:t>camulator_server.py</a:t>
            </a:r>
            <a:r>
              <a:t> → open release</a:t>
            </a:r>
          </a:p>
          <a:p>
            <a:pPr lvl="0"/>
            <a:r>
              <a:t>Generalise server interface for any CREDIT model</a:t>
            </a:r>
          </a:p>
          <a:p>
            <a:pPr lvl="0"/>
            <a:r>
              <a:t>Share restart-safe launch scripts with the community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Summary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We coupled an AI atmosphere to a dynamic ocean by:</a:t>
            </a:r>
          </a:p>
          <a:p>
            <a:pPr marL="342900" lvl="0" indent="-342900">
              <a:buAutoNum type="arabicPeriod"/>
            </a:pPr>
            <a:r>
              <a:rPr b="1"/>
              <a:t>Writing a new DATM datamode</a:t>
            </a:r>
            <a:r>
              <a:t> (</a:t>
            </a:r>
            <a:r>
              <a:rPr>
                <a:latin typeface="Courier"/>
              </a:rPr>
              <a:t>CAMULATOR</a:t>
            </a:r>
            <a:r>
              <a:t>) — zero coupler modifications, file-based flag I/O, fully debuggable</a:t>
            </a:r>
          </a:p>
          <a:p>
            <a:pPr marL="342900" lvl="0" indent="-342900">
              <a:buAutoNum type="arabicPeriod"/>
            </a:pPr>
            <a:r>
              <a:rPr b="1"/>
              <a:t>Tried to get the physics right</a:t>
            </a:r>
            <a:r>
              <a:t>: FSNS→FSDS albedo inversion so CPL7 doesn’t double-count surface reflection; dynamic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e>
                  <m:sub>
                    <m:r>
                      <m:rPr>
                        <m:nor/>
                      </m:rPr>
                      <a:rPr/>
                      <m:t>bot</m:t>
                    </m:r>
                  </m:sub>
                </m:sSub>
              </m:oMath>
            </a14:m>
            <a:r>
              <a:t> derived from hybrid coordinates for physically consistent M-O stability corrections</a:t>
            </a:r>
          </a:p>
          <a:p>
            <a:pPr marL="342900" lvl="0" indent="-342900">
              <a:buAutoNum type="arabicPeriod"/>
            </a:pPr>
            <a:r>
              <a:rPr b="1"/>
              <a:t>Running it:</a:t>
            </a:r>
            <a:r>
              <a:t> 42 SYPD, 35-year run stable, POP2 + CICE receiving evolving AI-generated fluxes and feeding SST back at every step</a:t>
            </a:r>
          </a:p>
          <a:p>
            <a:pPr marL="0" lvl="0" indent="0">
              <a:buNone/>
            </a:pPr>
            <a:r>
              <a:rPr i="1"/>
              <a:t>(Also had to fix a deep CPL7 pointer bug where </a:t>
            </a:r>
            <a:r>
              <a:rPr i="1">
                <a:latin typeface="Courier"/>
              </a:rPr>
              <a:t>xao_ax</a:t>
            </a:r>
            <a:r>
              <a:rPr i="1"/>
              <a:t> was never assigned for DATA ATM — see Appendix)</a:t>
            </a:r>
          </a:p>
          <a:p>
            <a:pPr marL="0" lvl="0" indent="0">
              <a:buNone/>
            </a:pPr>
            <a:r>
              <a:rPr b="1"/>
              <a:t>42 SYPD + prognostic ocean = multi-century coupled experiments at a fraction of the cost of full CESM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Code / contact: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Implementation</a:t>
            </a:r>
            <a:br/>
            <a:r>
              <a:rPr>
                <a:latin typeface="Courier"/>
              </a:rPr>
              <a:t>/glade/work/wchapman/Roman_Coupling/</a:t>
            </a:r>
            <a:br/>
            <a:r>
              <a:rPr>
                <a:latin typeface="Courier"/>
              </a:rPr>
              <a:t>  credit_feb182026/climate/</a:t>
            </a:r>
            <a:br/>
            <a:r>
              <a:rPr>
                <a:latin typeface="Courier"/>
              </a:rPr>
              <a:t>    camulator_server.py</a:t>
            </a:r>
            <a:br/>
            <a:r>
              <a:rPr>
                <a:latin typeface="Courier"/>
              </a:rPr>
              <a:t>    datm_datamode_camulator.F90</a:t>
            </a:r>
            <a:br/>
            <a:r>
              <a:rPr>
                <a:latin typeface="Courier"/>
              </a:rPr>
              <a:t>    launch_coupled_run.sh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Active case</a:t>
            </a:r>
            <a:br/>
            <a:r>
              <a:rPr>
                <a:latin typeface="Courier"/>
              </a:rPr>
              <a:t>/glade/work/wchapman/cesm/CREDIT/</a:t>
            </a:r>
            <a:br/>
            <a:r>
              <a:rPr>
                <a:latin typeface="Courier"/>
              </a:rPr>
              <a:t>  g.e21.CAMULATOR_GIAF_v02/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Slides below contain implementation detail for follow-up discussion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A: Component Glossary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Role in this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CESM2/CPL7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Framework + MCT-based Fortran coupler; remaps fields between grids, applies bulk formulae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DATM</a:t>
                      </a:r>
                      <a:r>
                        <a:t> (Data ATM)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Normally reads CORE2/JRA55 prescribed forcing. </a:t>
                      </a:r>
                      <a:r>
                        <a:rPr b="1"/>
                        <a:t>Here: runs CAMULATOR mode</a:t>
                      </a:r>
                      <a:r>
                        <a:t> — a new datamode we wrote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CAMulator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Autoregressive 6-hr AI atmosphere trained on CAM6 output. 192×288 (1°), 130 prognostic channels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3D ocean on gx1v7 displaced-pole grid (~1°, 320×384). Evolves SST, salinity, currents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Sea ice on same gx1v7 grid. Exchanges heat, momentum, freshwater with POP + atmosphere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T62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DATM’s native Gaussian grid: 94 lat × 192 lon. All DATM→CPL fields live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GIAF compset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DATM%IAF + POP2 + CICE — the baseline we piggyback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935" y="667413"/>
            <a:ext cx="8229600" cy="3394472"/>
          </a:xfrm>
        </p:spPr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B: Full Architecture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┌─────────────────────────────────────────────────────────────────────────┐
│   CESM2 CPL7 coupled run   (Fortran/MPI, CPU ranks on Derecho)          │
│                                                                          │
│   POP2 ──SST──► CPL7 ──x2a_So_t──► DATM (CAMULATOR mode)               │
│                                          │                               │
│                              write </a:t>
            </a:r>
            <a:r>
              <a:rPr dirty="0" err="1">
                <a:latin typeface="Courier"/>
              </a:rPr>
              <a:t>camulator_sst_in.nc</a:t>
            </a:r>
            <a:r>
              <a:rPr dirty="0">
                <a:latin typeface="Courier"/>
              </a:rPr>
              <a:t>                   │
│                              write </a:t>
            </a:r>
            <a:r>
              <a:rPr dirty="0" err="1">
                <a:latin typeface="Courier"/>
              </a:rPr>
              <a:t>camulator_go.flag</a:t>
            </a:r>
            <a:r>
              <a:rPr dirty="0">
                <a:latin typeface="Courier"/>
              </a:rPr>
              <a:t>   ───► [GPU server] │
│                                          ↑                               │
│                              read  </a:t>
            </a:r>
            <a:r>
              <a:rPr dirty="0" err="1">
                <a:latin typeface="Courier"/>
              </a:rPr>
              <a:t>camulator_done.flag</a:t>
            </a:r>
            <a:r>
              <a:rPr dirty="0">
                <a:latin typeface="Courier"/>
              </a:rPr>
              <a:t> ◄─── [GPU server] │
│                              read  </a:t>
            </a:r>
            <a:r>
              <a:rPr dirty="0" err="1">
                <a:latin typeface="Courier"/>
              </a:rPr>
              <a:t>camulator_cam_out.nc</a:t>
            </a:r>
            <a:r>
              <a:rPr dirty="0">
                <a:latin typeface="Courier"/>
              </a:rPr>
              <a:t>                  │
│                                          │                               │
│   POP2 ◄──a2x fluxes──── CPL7 ◄──────────┘                              │
└─────────────────────────────────────────────────────────────────────────┘
                   ▲ shared GLADE filesystem
┌──────────────────┴──────────────────────────────────────────────────────┐
│   </a:t>
            </a:r>
            <a:r>
              <a:rPr dirty="0" err="1">
                <a:latin typeface="Courier"/>
              </a:rPr>
              <a:t>camulator_server.py</a:t>
            </a:r>
            <a:r>
              <a:rPr dirty="0">
                <a:latin typeface="Courier"/>
              </a:rPr>
              <a:t>  (Python, A100 GPU, pre-launched on Casper)        │
│                                                                          │
│   loop:  watch </a:t>
            </a:r>
            <a:r>
              <a:rPr dirty="0" err="1">
                <a:latin typeface="Courier"/>
              </a:rPr>
              <a:t>go.flag</a:t>
            </a:r>
            <a:r>
              <a:rPr dirty="0">
                <a:latin typeface="Courier"/>
              </a:rPr>
              <a:t> → read </a:t>
            </a:r>
            <a:r>
              <a:rPr dirty="0" err="1">
                <a:latin typeface="Courier"/>
              </a:rPr>
              <a:t>sst_in.nc</a:t>
            </a:r>
            <a:r>
              <a:rPr dirty="0">
                <a:latin typeface="Courier"/>
              </a:rPr>
              <a:t> → inject SST → run </a:t>
            </a:r>
            <a:r>
              <a:rPr dirty="0" err="1">
                <a:latin typeface="Courier"/>
              </a:rPr>
              <a:t>CAMulator</a:t>
            </a:r>
            <a:r>
              <a:rPr dirty="0">
                <a:latin typeface="Courier"/>
              </a:rPr>
              <a:t>    │
│          → write </a:t>
            </a:r>
            <a:r>
              <a:rPr dirty="0" err="1">
                <a:latin typeface="Courier"/>
              </a:rPr>
              <a:t>cam_out.nc</a:t>
            </a:r>
            <a:r>
              <a:rPr dirty="0">
                <a:latin typeface="Courier"/>
              </a:rPr>
              <a:t> → write </a:t>
            </a:r>
            <a:r>
              <a:rPr dirty="0" err="1">
                <a:latin typeface="Courier"/>
              </a:rPr>
              <a:t>done.flag</a:t>
            </a:r>
            <a:r>
              <a:rPr dirty="0">
                <a:latin typeface="Courier"/>
              </a:rPr>
              <a:t>                            │
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C: Grid Remapping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Used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T62 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94 × 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DATM, CPL7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CAMulator 1°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192 × 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AI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BilinearRemap: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"""Precomputed bilinear weights for T62 ↔ CAMulator."""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src_lat, src_lon,</a:t>
            </a:r>
            <a:br/>
            <a:r>
              <a:rPr>
                <a:latin typeface="Courier"/>
              </a:rPr>
              <a:t>                       dst_lat, dst_lon):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compute weight matrices once at startup</a:t>
            </a:r>
            <a:br/>
            <a:r>
              <a:rPr>
                <a:latin typeface="Courier"/>
              </a:rPr>
              <a:t>        ...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batch(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fields_dict: </a:t>
            </a:r>
            <a:r>
              <a:rPr>
                <a:solidFill>
                  <a:srgbClr val="008000"/>
                </a:solidFill>
                <a:latin typeface="Courier"/>
              </a:rPr>
              <a:t>dict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dict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"""Remap all fields in one vectorised call."""</a:t>
            </a:r>
            <a:br/>
            <a:r>
              <a:rPr>
                <a:latin typeface="Courier"/>
              </a:rPr>
              <a:t>        out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{}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arr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fields_dict.items():</a:t>
            </a:r>
            <a:br/>
            <a:r>
              <a:rPr>
                <a:latin typeface="Courier"/>
              </a:rPr>
              <a:t>            out[name]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.weights </a:t>
            </a:r>
            <a:r>
              <a:rPr>
                <a:solidFill>
                  <a:srgbClr val="666666"/>
                </a:solidFill>
                <a:latin typeface="Courier"/>
              </a:rPr>
              <a:t>@</a:t>
            </a:r>
            <a:r>
              <a:rPr>
                <a:latin typeface="Courier"/>
              </a:rPr>
              <a:t> arr.ravel()</a:t>
            </a:r>
            <a:br/>
            <a:r>
              <a:rPr>
                <a:latin typeface="Courier"/>
              </a:rPr>
              <a:t>                         ).reshape(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.dst_shape)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D: SST Injection Detail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Read SST from sst_in.nc [K]</a:t>
            </a:r>
            <a:br/>
            <a:r>
              <a:rPr>
                <a:latin typeface="Courier"/>
              </a:rPr>
              <a:t>sst_t62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ds[</a:t>
            </a:r>
            <a:r>
              <a:rPr>
                <a:solidFill>
                  <a:srgbClr val="4070A0"/>
                </a:solidFill>
                <a:latin typeface="Courier"/>
              </a:rPr>
              <a:t>'sst'</a:t>
            </a:r>
            <a:r>
              <a:rPr>
                <a:latin typeface="Courier"/>
              </a:rPr>
              <a:t>].values           </a:t>
            </a:r>
            <a:r>
              <a:rPr i="1">
                <a:solidFill>
                  <a:srgbClr val="60A0B0"/>
                </a:solidFill>
                <a:latin typeface="Courier"/>
              </a:rPr>
              <a:t># 94×192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Remap T62 → CAMulator 1° grid</a:t>
            </a:r>
            <a:br/>
            <a:r>
              <a:rPr>
                <a:latin typeface="Courier"/>
              </a:rPr>
              <a:t>sst_cam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remap_t62_to_cam(sst_t62)  </a:t>
            </a:r>
            <a:r>
              <a:rPr i="1">
                <a:solidFill>
                  <a:srgbClr val="60A0B0"/>
                </a:solidFill>
                <a:latin typeface="Courier"/>
              </a:rPr>
              <a:t># 192×288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Over-land fill (POP only provides ocean points)</a:t>
            </a:r>
            <a:br/>
            <a:r>
              <a:rPr>
                <a:latin typeface="Courier"/>
              </a:rPr>
              <a:t>mask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sst_cam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270.0</a:t>
            </a:r>
            <a:r>
              <a:rPr>
                <a:latin typeface="Courier"/>
              </a:rPr>
              <a:t>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True = ocean</a:t>
            </a:r>
            <a:br/>
            <a:r>
              <a:rPr>
                <a:latin typeface="Courier"/>
              </a:rPr>
              <a:t>sst_blended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np.where(mask, sst_from_pop, </a:t>
            </a:r>
            <a:r>
              <a:rPr>
                <a:solidFill>
                  <a:srgbClr val="40A070"/>
                </a:solidFill>
                <a:latin typeface="Courier"/>
              </a:rPr>
              <a:t>283.0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Normalize and inject into forcing tensor</a:t>
            </a:r>
            <a:br/>
            <a:r>
              <a:rPr>
                <a:latin typeface="Courier"/>
              </a:rPr>
              <a:t>sst_norm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(sst_blended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sst_mean)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sst_std</a:t>
            </a:r>
            <a:br/>
            <a:r>
              <a:rPr>
                <a:latin typeface="Courier"/>
              </a:rPr>
              <a:t>model_input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stepper.state_manager </a:t>
            </a:r>
            <a:r>
              <a:rPr>
                <a:solidFill>
                  <a:srgbClr val="666666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.build_input_with_forcing(state, forcing_t, static)</a:t>
            </a:r>
            <a:br/>
            <a:r>
              <a:rPr>
                <a:latin typeface="Courier"/>
              </a:rPr>
              <a:t>accessor_input.set_state_var(model_input, </a:t>
            </a:r>
            <a:r>
              <a:rPr>
                <a:solidFill>
                  <a:srgbClr val="4070A0"/>
                </a:solidFill>
                <a:latin typeface="Courier"/>
              </a:rPr>
              <a:t>'SST'</a:t>
            </a:r>
            <a:r>
              <a:rPr>
                <a:latin typeface="Courier"/>
              </a:rPr>
              <a:t>, sst_norm_tensor)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Run inference</a:t>
            </a:r>
            <a:br/>
            <a:r>
              <a:rPr>
                <a:latin typeface="Courier"/>
              </a:rPr>
              <a:t>prediction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stepper.model(model_input.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())</a:t>
            </a:r>
          </a:p>
          <a:p>
            <a:pPr marL="0" lvl="0" indent="0">
              <a:buNone/>
            </a:pPr>
            <a:r>
              <a:rPr b="1"/>
              <a:t>SST is a </a:t>
            </a:r>
            <a:r>
              <a:rPr b="1">
                <a:latin typeface="Courier"/>
              </a:rPr>
              <a:t>dynamic_forcing_variable</a:t>
            </a:r>
            <a:r>
              <a:t> (not prognostic state) — it lives in the forcing tensor, not in the 130-channel prognostic state. This is why injection works without retraining the model.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E: Flux Conventions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CAMulator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→ cam_out.nc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FSNS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 m⁻² (6h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÷ 21600 → W m⁻²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FLNS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 m⁻² upward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÷ (−21600) → W m⁻²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 s⁻¹ liq-eq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TAUX/TAUY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LW reconstruction: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nor/>
                    </m:rPr>
                    <a:rPr/>
                    <m:t>FLNSD</m:t>
                  </m:r>
                  <m:r>
                    <a:rPr>
                      <a:latin typeface="Cambria Math" panose="02040503050406030204" pitchFamily="18" charset="0"/>
                    </a:rPr>
                    <m:t>=0.99 </m:t>
                  </m:r>
                  <m:r>
                    <a:rPr>
                      <a:latin typeface="Cambria Math" panose="02040503050406030204" pitchFamily="18" charset="0"/>
                    </a:rPr>
                    <m:t>𝜎</m:t>
                  </m:r>
                  <m:r>
                    <a:rPr>
                      <a:latin typeface="Cambria Math" panose="02040503050406030204" pitchFamily="18" charset="0"/>
                    </a:rPr>
                    <m:t> </m:t>
                  </m:r>
                  <m:sSubSup>
                    <m:sSubSup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4</m:t>
                      </m:r>
                    </m:sup>
                  </m:sSubSup>
                  <m:r>
                    <a:rPr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m:rPr>
                          <m:nor/>
                        </m:rPr>
                        <a:rPr/>
                        <m:t>FLNS</m:t>
                      </m:r>
                    </m:num>
                    <m:den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</m:den>
                  </m:f>
                </m:oMath>
              </m:oMathPara>
            </a14:m>
            <a:endParaRPr b="1"/>
          </a:p>
          <a:p>
            <a:pPr marL="0" lvl="0" indent="0">
              <a:buNone/>
            </a:pPr>
            <a:r>
              <a:rPr b="1"/>
              <a:t>Dynamic boundary layer height:</a:t>
            </a:r>
          </a:p>
          <a:p>
            <a:pPr lvl="0" indent="0">
              <a:buNone/>
            </a:pPr>
            <a:r>
              <a:rPr>
                <a:latin typeface="Courier"/>
              </a:rPr>
              <a:t>Z_BOT_SCALE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287.058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9.80616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np.log(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(hybi[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)))  </a:t>
            </a:r>
            <a:r>
              <a:rPr i="1">
                <a:solidFill>
                  <a:srgbClr val="60A0B0"/>
                </a:solidFill>
                <a:latin typeface="Courier"/>
              </a:rPr>
              <a:t># = 0.2187 m/K</a:t>
            </a:r>
            <a:br/>
            <a:br/>
            <a:r>
              <a:rPr>
                <a:latin typeface="Courier"/>
              </a:rPr>
              <a:t>z_bot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Z_BOT_SCALE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T_bot  </a:t>
            </a:r>
            <a:r>
              <a:rPr i="1">
                <a:solidFill>
                  <a:srgbClr val="60A0B0"/>
                </a:solidFill>
                <a:latin typeface="Courier"/>
              </a:rPr>
              <a:t># 50–67 m range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F: Restart Handling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ATM restart file</a:t>
            </a:r>
            <a:r>
              <a:t> (</a:t>
            </a:r>
            <a:r>
              <a:rPr>
                <a:latin typeface="Courier"/>
              </a:rPr>
              <a:t>camulator_atm_restart.pth</a:t>
            </a:r>
            <a:r>
              <a:t>):</a:t>
            </a:r>
          </a:p>
          <a:p>
            <a:pPr lvl="0" indent="0">
              <a:buNone/>
            </a:pPr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'state'</a:t>
            </a:r>
            <a:r>
              <a:rPr>
                <a:latin typeface="Courier"/>
              </a:rPr>
              <a:t>:     state_tensor,   </a:t>
            </a:r>
            <a:r>
              <a:rPr i="1">
                <a:solidFill>
                  <a:srgbClr val="60A0B0"/>
                </a:solidFill>
                <a:latin typeface="Courier"/>
              </a:rPr>
              <a:t># 130-ch CPU tensor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'timestep'</a:t>
            </a:r>
            <a:r>
              <a:rPr>
                <a:latin typeface="Courier"/>
              </a:rPr>
              <a:t>: 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'last_ymd'</a:t>
            </a:r>
            <a:r>
              <a:rPr>
                <a:latin typeface="Courier"/>
              </a:rPr>
              <a:t>: 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'last_tod'</a:t>
            </a:r>
            <a:r>
              <a:rPr>
                <a:latin typeface="Courier"/>
              </a:rPr>
              <a:t>: 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'cam_out'</a:t>
            </a:r>
            <a:r>
              <a:rPr>
                <a:latin typeface="Courier"/>
              </a:rPr>
              <a:t>:   cam_out_dict,   </a:t>
            </a:r>
            <a:r>
              <a:rPr i="1">
                <a:solidFill>
                  <a:srgbClr val="60A0B0"/>
                </a:solidFill>
                <a:latin typeface="Courier"/>
              </a:rPr>
              <a:t># re-send on CONTINUE_RUN</a:t>
            </a:r>
            <a:br/>
            <a:r>
              <a:rPr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t>On </a:t>
            </a:r>
            <a:r>
              <a:rPr>
                <a:latin typeface="Courier"/>
              </a:rPr>
              <a:t>CONTINUE_RUN=TRUE</a:t>
            </a:r>
            <a:r>
              <a:t>, CESM re-sends the last </a:t>
            </a:r>
            <a:r>
              <a:rPr>
                <a:latin typeface="Courier"/>
              </a:rPr>
              <a:t>go.flag</a:t>
            </a:r>
            <a:r>
              <a:t>. Server detects </a:t>
            </a:r>
            <a:r>
              <a:rPr>
                <a:latin typeface="Courier"/>
              </a:rPr>
              <a:t>current_ymd == last_ymd</a:t>
            </a:r>
            <a:r>
              <a:t>, re-sends saved </a:t>
            </a:r>
            <a:r>
              <a:rPr>
                <a:latin typeface="Courier"/>
              </a:rPr>
              <a:t>cam_out</a:t>
            </a:r>
            <a:r>
              <a:t> without re-inference.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Year-boundary repeated dates:</a:t>
            </a:r>
          </a:p>
          <a:p>
            <a:pPr marL="0" lvl="0" indent="0">
              <a:buNone/>
            </a:pPr>
            <a:r>
              <a:t>CESM sends the year-boundary date </a:t>
            </a:r>
            <a:r>
              <a:rPr b="1"/>
              <a:t>three times</a:t>
            </a:r>
            <a:r>
              <a:t> during restart init. Fix: date-based forcing index (same date → same forcing slice, always).</a:t>
            </a:r>
          </a:p>
          <a:p>
            <a:pPr marL="0" lvl="0" indent="0">
              <a:buNone/>
            </a:pPr>
            <a:r>
              <a:rPr b="1"/>
              <a:t>Annual archive:</a:t>
            </a:r>
          </a:p>
          <a:p>
            <a:pPr lvl="0" indent="0">
              <a:buNone/>
            </a:pPr>
            <a:r>
              <a:rPr>
                <a:latin typeface="Courier"/>
              </a:rPr>
              <a:t>rundir/atm_archive/</a:t>
            </a:r>
            <a:br/>
            <a:r>
              <a:rPr>
                <a:latin typeface="Courier"/>
              </a:rPr>
              <a:t>  YYYY/</a:t>
            </a:r>
            <a:br/>
            <a:r>
              <a:rPr>
                <a:latin typeface="Courier"/>
              </a:rPr>
              <a:t>    camulator_atm_YYYY-001.nc</a:t>
            </a:r>
            <a:br/>
            <a:r>
              <a:rPr>
                <a:latin typeface="Courier"/>
              </a:rPr>
              <a:t>    camulator_atm_YYYY-002.nc 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daily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camulator_atm_restart.pth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G: Launch Workflow</a:t>
            </a:r>
          </a:p>
          <a:p>
            <a:pPr marL="0" lvl="0" indent="0">
              <a:buNone/>
            </a:pPr>
            <a:endParaRPr b="1"/>
          </a:p>
        </p:txBody>
      </p:sp>
      <p:pic>
        <p:nvPicPr>
          <p:cNvPr id="2" name="Picture 1" descr="CAMulator_Coupling_Talk_files/figure-pptx/mermaid-figure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03200"/>
            <a:ext cx="4343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H: The CPL7 Bug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Symptom:</a:t>
            </a:r>
            <a:r>
              <a:t> Ocean sees SST = 0 K on every coupling step despite POP sending valid temperatures.</a:t>
            </a:r>
          </a:p>
          <a:p>
            <a:pPr marL="0" lvl="0" indent="0">
              <a:buNone/>
            </a:pPr>
            <a:r>
              <a:rPr b="1"/>
              <a:t>Root cause</a:t>
            </a:r>
            <a:r>
              <a:t> — </a:t>
            </a:r>
            <a:r>
              <a:rPr>
                <a:latin typeface="Courier"/>
              </a:rPr>
              <a:t>cime_comp_mod.F90</a:t>
            </a:r>
            <a:r>
              <a:t>:</a:t>
            </a:r>
          </a:p>
          <a:p>
            <a:pPr marL="0" lvl="0" indent="0">
              <a:buNone/>
            </a:pPr>
            <a:r>
              <a:t>The </a:t>
            </a:r>
            <a:r>
              <a:rPr>
                <a:latin typeface="Courier"/>
              </a:rPr>
              <a:t>xao_ax</a:t>
            </a:r>
            <a:r>
              <a:t> pointer (ATM↔OCN flux object) is initialised only inside: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(atm_prognostic)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... init phase ...</a:t>
            </a:r>
            <a:br/>
            <a:r>
              <a:rPr>
                <a:latin typeface="Courier"/>
              </a:rPr>
              <a:t>   xao_ax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prep_aoflux_get_xao_ax()   </a:t>
            </a:r>
            <a:r>
              <a:rPr i="1">
                <a:solidFill>
                  <a:srgbClr val="60A0B0"/>
                </a:solidFill>
                <a:latin typeface="Courier"/>
              </a:rPr>
              <a:t>! line ~1974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if</a:t>
            </a:r>
          </a:p>
          <a:p>
            <a:pPr marL="0" lvl="0" indent="0">
              <a:buNone/>
            </a:pPr>
            <a:r>
              <a:t>For DATA ATM (</a:t>
            </a:r>
            <a:r>
              <a:rPr>
                <a:latin typeface="Courier"/>
              </a:rPr>
              <a:t>atm_prognostic = .false.</a:t>
            </a:r>
            <a:r>
              <a:t>), this block is </a:t>
            </a:r>
            <a:r>
              <a:rPr b="1"/>
              <a:t>never entered</a:t>
            </a:r>
            <a:r>
              <a:t> → </a:t>
            </a:r>
            <a:r>
              <a:rPr>
                <a:latin typeface="Courier"/>
              </a:rPr>
              <a:t>xao_ax</a:t>
            </a:r>
            <a:r>
              <a:t> stays </a:t>
            </a:r>
            <a:r>
              <a:rPr>
                <a:latin typeface="Courier"/>
              </a:rPr>
              <a:t>null()</a:t>
            </a:r>
            <a:r>
              <a:t>.</a:t>
            </a:r>
          </a:p>
          <a:p>
            <a:pPr marL="0" lvl="0" indent="0">
              <a:buNone/>
            </a:pPr>
            <a:r>
              <a:t>Later at every coupling step: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associated</a:t>
            </a:r>
            <a:r>
              <a:rPr>
                <a:latin typeface="Courier"/>
              </a:rPr>
              <a:t>(xao_ax))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.false. !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prep_atm_mrg(...)      </a:t>
            </a:r>
            <a:r>
              <a:rPr i="1">
                <a:solidFill>
                  <a:srgbClr val="60A0B0"/>
                </a:solidFill>
                <a:latin typeface="Courier"/>
              </a:rPr>
              <a:t>! NEVER RUNS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if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! → x2c_cx stays zero → SST = 0</a:t>
            </a:r>
          </a:p>
          <a:p>
            <a:pPr marL="0" lvl="0" indent="0">
              <a:buNone/>
            </a:pPr>
            <a:r>
              <a:rPr b="1"/>
              <a:t>No one had ever run a DATA ATM that needed to read back ocean state — this code path had never been exercised in 20 years of CESM.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Three-part fix (all in ATM SETUP-SEND block):</a:t>
            </a:r>
          </a:p>
          <a:p>
            <a:pPr marL="0" lvl="0" indent="0">
              <a:buNone/>
            </a:pPr>
            <a:r>
              <a:rPr b="1"/>
              <a:t>Fix 1 &amp; 2</a:t>
            </a:r>
            <a:r>
              <a:t> — widen two guards from </a:t>
            </a:r>
            <a:r>
              <a:rPr>
                <a:latin typeface="Courier"/>
              </a:rPr>
              <a:t>atm_prognostic</a:t>
            </a:r>
            <a:r>
              <a:t> to </a:t>
            </a:r>
            <a:r>
              <a:rPr>
                <a:latin typeface="Courier"/>
              </a:rPr>
              <a:t>(atm_prognostic .or. atm_present)</a:t>
            </a:r>
            <a:r>
              <a:t>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(atm_prognostic </a:t>
            </a:r>
            <a:r>
              <a:rPr>
                <a:solidFill>
                  <a:srgbClr val="666666"/>
                </a:solidFill>
                <a:latin typeface="Courier"/>
              </a:rPr>
              <a:t>.or.</a:t>
            </a:r>
            <a:r>
              <a:rPr>
                <a:latin typeface="Courier"/>
              </a:rPr>
              <a:t> atm_present)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prep-merge block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if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(atm_prognostic </a:t>
            </a:r>
            <a:r>
              <a:rPr>
                <a:solidFill>
                  <a:srgbClr val="666666"/>
                </a:solidFill>
                <a:latin typeface="Courier"/>
              </a:rPr>
              <a:t>.or.</a:t>
            </a:r>
            <a:r>
              <a:rPr>
                <a:latin typeface="Courier"/>
              </a:rPr>
              <a:t> atm_present)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component_exch(atm, flow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'x2c'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if</a:t>
            </a:r>
          </a:p>
          <a:p>
            <a:pPr marL="0" lvl="0" indent="0">
              <a:buNone/>
            </a:pPr>
            <a:r>
              <a:rPr b="1"/>
              <a:t>Fix 3</a:t>
            </a:r>
            <a:r>
              <a:t> — assign pointer before the </a:t>
            </a:r>
            <a:r>
              <a:rPr>
                <a:latin typeface="Courier"/>
              </a:rPr>
              <a:t>associated()</a:t>
            </a:r>
            <a:r>
              <a:t> check: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ROOT CAUSE FIX</a:t>
            </a:r>
            <a:br/>
            <a:r>
              <a:rPr>
                <a:latin typeface="Courier"/>
              </a:rPr>
              <a:t>xao_ax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prep_aoflux_get_xao_ax()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associated</a:t>
            </a:r>
            <a:r>
              <a:rPr>
                <a:latin typeface="Courier"/>
              </a:rPr>
              <a:t>(xao_ax)) </a:t>
            </a:r>
            <a:r>
              <a:rPr b="1">
                <a:solidFill>
                  <a:srgbClr val="007020"/>
                </a:solidFill>
                <a:latin typeface="Courier"/>
              </a:rPr>
              <a:t>then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prep_atm_mrg(...)  </a:t>
            </a:r>
            <a:r>
              <a:rPr i="1">
                <a:solidFill>
                  <a:srgbClr val="60A0B0"/>
                </a:solidFill>
                <a:latin typeface="Courier"/>
              </a:rPr>
              <a:t>! now runs!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if</a:t>
            </a:r>
          </a:p>
          <a:p>
            <a:pPr marL="0" lvl="0" indent="0">
              <a:buNone/>
            </a:pPr>
            <a:r>
              <a:rPr b="1"/>
              <a:t>Confirmed:</a:t>
            </a:r>
            <a:r>
              <a:t> 10-day coupled run at </a:t>
            </a:r>
            <a:r>
              <a:rPr b="1"/>
              <a:t>42 SYPD</a:t>
            </a:r>
            <a:r>
              <a:t>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3274</Words>
  <Application>Microsoft Macintosh PowerPoint</Application>
  <PresentationFormat>On-screen Show (16:9)</PresentationFormat>
  <Paragraphs>252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Courier</vt:lpstr>
      <vt:lpstr>Office Theme</vt:lpstr>
      <vt:lpstr>POP goes the CAMulator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 goes the CAMulator</dc:title>
  <dc:creator>Will Chapman | CU Boulder</dc:creator>
  <cp:keywords/>
  <cp:lastModifiedBy>Will Chapman</cp:lastModifiedBy>
  <cp:revision>1</cp:revision>
  <dcterms:created xsi:type="dcterms:W3CDTF">2026-03-18T13:29:52Z</dcterms:created>
  <dcterms:modified xsi:type="dcterms:W3CDTF">2026-03-18T14:35:17Z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Initial Results: CAMulator ↔ POP2 inside CESM2/3</vt:lpwstr>
  </property>
  <property fmtid="{D5CDD505-2E9C-101B-9397-08002B2CF9AE}" pid="11" name="toc-title">
    <vt:lpwstr>Table of contents</vt:lpwstr>
  </property>
</Properties>
</file>